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502920"/>
            <a:ext cx="2880360" cy="2880360"/>
          </a:xfrm>
          <a:prstGeom prst="ellipse">
            <a:avLst/>
          </a:prstGeom>
          <a:solidFill>
            <a:srgbClr val="DED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1234440"/>
            <a:ext cx="1691640" cy="1691640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6608" y="1481328"/>
            <a:ext cx="123444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5400" b="1" i="0">
                <a:solidFill>
                  <a:srgbClr val="FFFFFF"/>
                </a:solidFill>
                <a:latin typeface="Aptos"/>
              </a:defRPr>
            </a:pPr>
            <a:r>
              <a:t>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777240"/>
            <a:ext cx="2651760" cy="347472"/>
          </a:xfrm>
          <a:prstGeom prst="roundRect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809244"/>
            <a:ext cx="250545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74375B"/>
                </a:solidFill>
                <a:latin typeface="Aptos"/>
              </a:defRPr>
            </a:pPr>
            <a:r>
              <a:t>PERSONAL SOFTWARE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713232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4800" b="1" i="0">
                <a:solidFill>
                  <a:srgbClr val="74375B"/>
                </a:solidFill>
                <a:latin typeface="Aptos"/>
              </a:defRPr>
            </a:pPr>
            <a:r>
              <a:t>MoraQuest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51760"/>
            <a:ext cx="7132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500" b="0" i="0">
                <a:solidFill>
                  <a:srgbClr val="392A34"/>
                </a:solidFill>
                <a:latin typeface="Aptos"/>
              </a:defRPr>
            </a:pPr>
            <a:r>
              <a:t>A little adventure in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66751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856779"/>
                </a:solidFill>
                <a:latin typeface="Aptos"/>
              </a:defRPr>
            </a:pPr>
            <a:r>
              <a:t>A gamified learning app with quests, rewards, and a customizable cat companion.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74375B"/>
                </a:solidFill>
                <a:latin typeface="Aptos"/>
              </a:defRPr>
            </a:pPr>
            <a:r>
              <a:t>React  •  JavaScript  •  CSS  •  Supabase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856779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01  / 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74375B"/>
                </a:solidFill>
                <a:latin typeface="Aptos"/>
              </a:defRPr>
            </a:pPr>
            <a:r>
              <a:t>Make learning feel like an adventure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105156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856779"/>
                </a:solidFill>
                <a:latin typeface="Aptos"/>
              </a:defRPr>
            </a:pPr>
            <a:r>
              <a:t>MoraQuest turns progress into a playful loop: complete an activity, earn rewards, and personalize your companion.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80360"/>
            <a:ext cx="3401568" cy="2057400"/>
          </a:xfrm>
          <a:prstGeom prst="roundRect">
            <a:avLst/>
          </a:prstGeom>
          <a:solidFill>
            <a:srgbClr val="FF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7437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9260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300" b="1" i="0">
                <a:solidFill>
                  <a:srgbClr val="392A34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33087"/>
            <a:ext cx="29077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Complete quests and short knowledge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2880360"/>
            <a:ext cx="3401568" cy="2057400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3108960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7437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566160"/>
            <a:ext cx="29260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300" b="1" i="0">
                <a:solidFill>
                  <a:srgbClr val="392A34"/>
                </a:solidFill>
                <a:latin typeface="Aptos"/>
              </a:defRPr>
            </a:pPr>
            <a:r>
              <a:t>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4133087"/>
            <a:ext cx="29077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Collect coins and XP as progress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0183" y="2880360"/>
            <a:ext cx="3401568" cy="2057400"/>
          </a:xfrm>
          <a:prstGeom prst="roundRect">
            <a:avLst/>
          </a:prstGeom>
          <a:solidFill>
            <a:srgbClr val="E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3108960"/>
            <a:ext cx="731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7437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566160"/>
            <a:ext cx="29260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300" b="1" i="0">
                <a:solidFill>
                  <a:srgbClr val="392A34"/>
                </a:solidFill>
                <a:latin typeface="Aptos"/>
              </a:defRPr>
            </a:pPr>
            <a:r>
              <a:t>Personalize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4133087"/>
            <a:ext cx="29077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Unlock accessories and style your cat.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74375B"/>
                </a:solidFill>
                <a:latin typeface="Aptos"/>
              </a:defRPr>
            </a:pPr>
            <a:r>
              <a:t>DESIGN PRINCIPLE   •   Small steps + visible progress + playful rewards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02  / 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74375B"/>
                </a:solidFill>
                <a:latin typeface="Aptos"/>
              </a:defRPr>
            </a:pPr>
            <a:r>
              <a:t>One app, several ways to stay engaged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07492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112263"/>
            <a:ext cx="384048" cy="384048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011679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Quests &amp;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59152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856779"/>
                </a:solidFill>
                <a:latin typeface="Aptos"/>
              </a:defRPr>
            </a:pPr>
            <a:r>
              <a:t>Structured activities with knowledge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507492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6248" y="2112263"/>
            <a:ext cx="384048" cy="384048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11679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Daily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59152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856779"/>
                </a:solidFill>
                <a:latin typeface="Aptos"/>
              </a:defRPr>
            </a:pPr>
            <a:r>
              <a:t>A repeatable routine and daily reward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507492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346704"/>
            <a:ext cx="384048" cy="384048"/>
          </a:xfrm>
          <a:prstGeom prst="ellipse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246120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Coins &amp;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93591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856779"/>
                </a:solidFill>
                <a:latin typeface="Aptos"/>
              </a:defRPr>
            </a:pPr>
            <a:r>
              <a:t>Rewards, progress tracking, and levels.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108960"/>
            <a:ext cx="507492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56248" y="3346704"/>
            <a:ext cx="384048" cy="384048"/>
          </a:xfrm>
          <a:prstGeom prst="ellipse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Cat wardrobe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93591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856779"/>
                </a:solidFill>
                <a:latin typeface="Aptos"/>
              </a:defRPr>
            </a:pPr>
            <a:r>
              <a:t>Shop, unlock, and equip cosmetic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507492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" y="4581144"/>
            <a:ext cx="384048" cy="384048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480560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Achievements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28032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856779"/>
                </a:solidFill>
                <a:latin typeface="Aptos"/>
              </a:defRPr>
            </a:pPr>
            <a:r>
              <a:t>Milestones that recognize progress.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343400"/>
            <a:ext cx="507492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56248" y="4581144"/>
            <a:ext cx="384048" cy="384048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480560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User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828032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856779"/>
                </a:solidFill>
                <a:latin typeface="Aptos"/>
              </a:defRPr>
            </a:pPr>
            <a:r>
              <a:t>Authentication and backend integration with Supabase.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03  / 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74375B"/>
                </a:solidFill>
                <a:latin typeface="Aptos"/>
              </a:defRPr>
            </a:pPr>
            <a:r>
              <a:t>The tools behind MoraQuest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2487168" cy="2011680"/>
          </a:xfrm>
          <a:prstGeom prst="roundRect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651760"/>
            <a:ext cx="21579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100" b="1" i="0">
                <a:solidFill>
                  <a:srgbClr val="74375B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029968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400" b="0" i="0">
                <a:solidFill>
                  <a:srgbClr val="392A34"/>
                </a:solidFill>
                <a:latin typeface="Aptos"/>
              </a:defRPr>
            </a:pPr>
            <a:r>
              <a:t>Component-based user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2331720"/>
            <a:ext cx="2487168" cy="2011680"/>
          </a:xfrm>
          <a:prstGeom prst="roundRect">
            <a:avLst/>
          </a:prstGeom>
          <a:solidFill>
            <a:srgbClr val="DED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2651760"/>
            <a:ext cx="21579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100" b="1" i="0">
                <a:solidFill>
                  <a:srgbClr val="74375B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3291840"/>
            <a:ext cx="2029968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400" b="0" i="0">
                <a:solidFill>
                  <a:srgbClr val="392A34"/>
                </a:solidFill>
                <a:latin typeface="Aptos"/>
              </a:defRPr>
            </a:pPr>
            <a:r>
              <a:t>Application logic and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2331720"/>
            <a:ext cx="2487168" cy="2011680"/>
          </a:xfrm>
          <a:prstGeom prst="roundRect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651760"/>
            <a:ext cx="21579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100" b="1" i="0">
                <a:solidFill>
                  <a:srgbClr val="74375B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91840"/>
            <a:ext cx="2029968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400" b="0" i="0">
                <a:solidFill>
                  <a:srgbClr val="392A34"/>
                </a:solidFill>
                <a:latin typeface="Aptos"/>
              </a:defRPr>
            </a:pPr>
            <a:r>
              <a:t>Responsive layout and visual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0304" y="2331720"/>
            <a:ext cx="2487168" cy="2011680"/>
          </a:xfrm>
          <a:prstGeom prst="roundRect">
            <a:avLst/>
          </a:prstGeom>
          <a:solidFill>
            <a:srgbClr val="FFE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54896" y="2651760"/>
            <a:ext cx="21579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100" b="1" i="0">
                <a:solidFill>
                  <a:srgbClr val="74375B"/>
                </a:solidFill>
                <a:latin typeface="Aptos"/>
              </a:defRPr>
            </a:pPr>
            <a: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8904" y="3291840"/>
            <a:ext cx="2029968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400" b="0" i="0">
                <a:solidFill>
                  <a:srgbClr val="392A34"/>
                </a:solidFill>
                <a:latin typeface="Aptos"/>
              </a:defRPr>
            </a:pPr>
            <a:r>
              <a:t>Authentication and backend data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10881360" cy="749808"/>
          </a:xfrm>
          <a:prstGeom prst="roundRect">
            <a:avLst/>
          </a:prstGeom>
          <a:solidFill>
            <a:srgbClr val="FF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02352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Frontend experience  ↔  Backend services  ↔  Persistent user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04  / 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 i="0">
                <a:solidFill>
                  <a:srgbClr val="74375B"/>
                </a:solidFill>
                <a:latin typeface="Aptos"/>
              </a:defRPr>
            </a:pPr>
            <a:r>
              <a:t>Designed to be friendly on any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6035040" cy="3474720"/>
          </a:xfrm>
          <a:prstGeom prst="roundRect">
            <a:avLst/>
          </a:prstGeom>
          <a:solidFill>
            <a:srgbClr val="3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2057400"/>
            <a:ext cx="5669280" cy="3108960"/>
          </a:xfrm>
          <a:prstGeom prst="roundRect">
            <a:avLst/>
          </a:prstGeom>
          <a:solidFill>
            <a:srgbClr val="FF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74375B"/>
                </a:solidFill>
                <a:latin typeface="Aptos"/>
              </a:defRPr>
            </a:pPr>
            <a:r>
              <a:t>✿ MoraQuest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300" b="1" i="0">
                <a:solidFill>
                  <a:srgbClr val="74375B"/>
                </a:solidFill>
                <a:latin typeface="Aptos"/>
              </a:defRPr>
            </a:pPr>
            <a:r>
              <a:t>Hello, Player!! 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278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856779"/>
                </a:solidFill>
                <a:latin typeface="Aptos"/>
              </a:defRPr>
            </a:pPr>
            <a:r>
              <a:t>Your Little Adventure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2743200"/>
            <a:ext cx="1143000" cy="1143000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4736592" y="2487168"/>
            <a:ext cx="457200" cy="502920"/>
          </a:xfrm>
          <a:prstGeom prst="triangl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5358384" y="2487168"/>
            <a:ext cx="457200" cy="502920"/>
          </a:xfrm>
          <a:prstGeom prst="triangl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0912" y="3136392"/>
            <a:ext cx="109728" cy="155448"/>
          </a:xfrm>
          <a:prstGeom prst="ellipse">
            <a:avLst/>
          </a:prstGeom>
          <a:solidFill>
            <a:srgbClr val="3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49824" y="3136392"/>
            <a:ext cx="109728" cy="155448"/>
          </a:xfrm>
          <a:prstGeom prst="ellipse">
            <a:avLst/>
          </a:prstGeom>
          <a:solidFill>
            <a:srgbClr val="3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39512" y="3401568"/>
            <a:ext cx="137160" cy="91440"/>
          </a:xfrm>
          <a:prstGeom prst="ellipse">
            <a:avLst/>
          </a:prstGeom>
          <a:solidFill>
            <a:srgbClr val="74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1" i="0">
                <a:solidFill>
                  <a:srgbClr val="74375B"/>
                </a:solidFill>
                <a:latin typeface="Aptos"/>
              </a:defRPr>
            </a:pPr>
            <a:r>
              <a:t>Quests     Daily     Wardrobe     Achievements     Profile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572000"/>
            <a:ext cx="1920240" cy="365760"/>
          </a:xfrm>
          <a:prstGeom prst="roundRect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4645152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Start a quest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011680"/>
            <a:ext cx="3840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74375B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651760"/>
            <a:ext cx="402336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92A34"/>
                </a:solidFill>
                <a:latin typeface="Aptos"/>
              </a:defRPr>
            </a:pPr>
            <a:r>
              <a:t>•  A soft pink visual theme and cat companion</a:t>
            </a:r>
          </a:p>
          <a:p>
            <a:pPr>
              <a:spcAft>
                <a:spcPts val="1200"/>
              </a:spcAft>
              <a:defRPr sz="1500">
                <a:solidFill>
                  <a:srgbClr val="392A34"/>
                </a:solidFill>
                <a:latin typeface="Aptos"/>
              </a:defRPr>
            </a:pPr>
            <a:r>
              <a:t>•  Dedicated sections for quests, daily tasks, wardrobe, achievements, and profile</a:t>
            </a:r>
          </a:p>
          <a:p>
            <a:pPr>
              <a:spcAft>
                <a:spcPts val="1200"/>
              </a:spcAft>
              <a:defRPr sz="1500">
                <a:solidFill>
                  <a:srgbClr val="392A34"/>
                </a:solidFill>
                <a:latin typeface="Aptos"/>
              </a:defRPr>
            </a:pPr>
            <a:r>
              <a:t>•  Layouts adjusted for narrow mobile screens</a:t>
            </a:r>
          </a:p>
          <a:p>
            <a:pPr>
              <a:spcAft>
                <a:spcPts val="1200"/>
              </a:spcAft>
              <a:defRPr sz="1500">
                <a:solidFill>
                  <a:srgbClr val="392A34"/>
                </a:solidFill>
                <a:latin typeface="Aptos"/>
              </a:defRPr>
            </a:pPr>
            <a:r>
              <a:t>•  Accessible focus states and reduced-motion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166360"/>
            <a:ext cx="2926080" cy="347472"/>
          </a:xfrm>
          <a:prstGeom prst="roundRect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5198364"/>
            <a:ext cx="277977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74375B"/>
                </a:solidFill>
                <a:latin typeface="Aptos"/>
              </a:defRPr>
            </a:pPr>
            <a:r>
              <a:t>MOBILE CHECKED: 320–375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05  /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74375B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37490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State &amp;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58568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856779"/>
                </a:solidFill>
                <a:latin typeface="Aptos"/>
              </a:defRPr>
            </a:pPr>
            <a:r>
              <a:t>Coins, XP, owned items, equipped items, and completion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53511"/>
            <a:ext cx="37490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Backend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59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856779"/>
                </a:solidFill>
                <a:latin typeface="Aptos"/>
              </a:defRPr>
            </a:pPr>
            <a:r>
              <a:t>Supabase authentication and database-backed functionality.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32504"/>
            <a:ext cx="37490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UI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16552"/>
            <a:ext cx="4663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856779"/>
                </a:solidFill>
                <a:latin typeface="Aptos"/>
              </a:defRPr>
            </a:pPr>
            <a:r>
              <a:t>Reusable sections, interaction feedback, and responsive CSS.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74519"/>
            <a:ext cx="5212080" cy="3429000"/>
          </a:xfrm>
          <a:prstGeom prst="roundRect">
            <a:avLst/>
          </a:prstGeom>
          <a:solidFill>
            <a:srgbClr val="FF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PROJECT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392A34"/>
                </a:solidFill>
                <a:latin typeface="Aptos"/>
              </a:defRPr>
            </a:pPr>
            <a:r>
              <a:t>Building MoraQuest has involved: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438912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92A34"/>
                </a:solidFill>
                <a:latin typeface="Aptos"/>
              </a:defRPr>
            </a:pPr>
            <a:r>
              <a:t>•  Connecting frontend features to backend services</a:t>
            </a:r>
          </a:p>
          <a:p>
            <a:pPr>
              <a:spcAft>
                <a:spcPts val="1000"/>
              </a:spcAft>
              <a:defRPr sz="1400">
                <a:solidFill>
                  <a:srgbClr val="392A34"/>
                </a:solidFill>
                <a:latin typeface="Aptos"/>
              </a:defRPr>
            </a:pPr>
            <a:r>
              <a:t>•  Debugging authentication and data issues</a:t>
            </a:r>
          </a:p>
          <a:p>
            <a:pPr>
              <a:spcAft>
                <a:spcPts val="1000"/>
              </a:spcAft>
              <a:defRPr sz="1400">
                <a:solidFill>
                  <a:srgbClr val="392A34"/>
                </a:solidFill>
                <a:latin typeface="Aptos"/>
              </a:defRPr>
            </a:pPr>
            <a:r>
              <a:t>•  Testing real layouts on mobile breakpoints</a:t>
            </a:r>
          </a:p>
          <a:p>
            <a:pPr>
              <a:spcAft>
                <a:spcPts val="1000"/>
              </a:spcAft>
              <a:defRPr sz="1400">
                <a:solidFill>
                  <a:srgbClr val="392A34"/>
                </a:solidFill>
                <a:latin typeface="Aptos"/>
              </a:defRPr>
            </a:pPr>
            <a:r>
              <a:t>•  Iterating without replacing working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74375B"/>
                </a:solidFill>
                <a:latin typeface="Aptos"/>
              </a:defRPr>
            </a:pPr>
            <a:r>
              <a:t>06  / 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74375B"/>
                </a:solidFill>
                <a:latin typeface="Aptos"/>
              </a:defRPr>
            </a:pPr>
            <a:r>
              <a:t>A foundation to keep building on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20240"/>
            <a:ext cx="438912" cy="438912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2996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7437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29384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Learning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947672"/>
            <a:ext cx="5943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Expand quizzes and question sets.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79776"/>
            <a:ext cx="438912" cy="438912"/>
          </a:xfrm>
          <a:prstGeom prst="ellipse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9504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7437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Progress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07208"/>
            <a:ext cx="5943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Show streaks and learning history.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2"/>
            <a:ext cx="438912" cy="438912"/>
          </a:xfrm>
          <a:prstGeom prst="ellipse">
            <a:avLst/>
          </a:prstGeom>
          <a:solidFill>
            <a:srgbClr val="EE8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749039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7437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48456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Quality &amp;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66744"/>
            <a:ext cx="5943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Add automated checks and edge-case handling.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498848"/>
            <a:ext cx="438912" cy="438912"/>
          </a:xfrm>
          <a:prstGeom prst="ellipse">
            <a:avLst/>
          </a:prstGeom>
          <a:solidFill>
            <a:srgbClr val="BE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0857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7437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07992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74375B"/>
                </a:solidFill>
                <a:latin typeface="Aptos"/>
              </a:defRPr>
            </a:pPr>
            <a:r>
              <a:t>Portfolio polish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26280"/>
            <a:ext cx="5943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856779"/>
                </a:solidFill>
                <a:latin typeface="Aptos"/>
              </a:defRPr>
            </a:pPr>
            <a:r>
              <a:t>Add real screenshots, setup docs, and a demo.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74375B"/>
                </a:solidFill>
                <a:latin typeface="Aptos"/>
              </a:defRPr>
            </a:pPr>
            <a:r>
              <a:t>The goal: turn a personal project into a clear, demonstrable portfolio piece.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37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685800"/>
            <a:ext cx="2377440" cy="2377440"/>
          </a:xfrm>
          <a:prstGeom prst="ellipse">
            <a:avLst/>
          </a:prstGeom>
          <a:solidFill>
            <a:srgbClr val="965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62288" y="1051560"/>
            <a:ext cx="1645920" cy="1280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6500" b="1" i="0">
                <a:solidFill>
                  <a:srgbClr val="FFFFFF"/>
                </a:solidFill>
                <a:latin typeface="Aptos"/>
              </a:defRPr>
            </a:pPr>
            <a:r>
              <a:t>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694944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132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100" b="0" i="0">
                <a:solidFill>
                  <a:srgbClr val="FFE1F0"/>
                </a:solidFill>
                <a:latin typeface="Aptos"/>
              </a:defRPr>
            </a:pPr>
            <a:r>
              <a:t>MoraQuest is a personal project exploring how playful design can support learning habits.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6400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FE1F0"/>
                </a:solidFill>
                <a:latin typeface="Aptos"/>
              </a:defRPr>
            </a:pPr>
            <a:r>
              <a:t>React  •  JavaScript  •  CSS  •  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856779"/>
                </a:solidFill>
                <a:latin typeface="Aptos"/>
              </a:defRPr>
            </a:pPr>
            <a:r>
              <a:t>MORAQUEST  •  PROJECT OVERVIEW                                    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